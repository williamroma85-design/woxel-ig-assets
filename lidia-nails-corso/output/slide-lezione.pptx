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Aprire con il problema che tutte conosciamo: forme irregolari e ore di lavoro. La tip risolve tempo e uniformità.</a:t>
            </a:r>
          </a:p>
          <a:p/>
          <a:p>
            <a:r>
              <a:t>Dettaglio:</a:t>
            </a:r>
          </a:p>
          <a:p>
            <a:r>
              <a:t>- Estensioni preformate in soft gel che coprono tutta l'unghia naturale: dalla cuticola al bordo libero e su entrambi i laterali (incapsulano l'unghia).</a:t>
            </a:r>
          </a:p>
          <a:p>
            <a:r>
              <a:t>- Si applicano con il gel, non con la colla.</a:t>
            </a:r>
          </a:p>
          <a:p>
            <a:r>
              <a:t>- Vantaggi: tempi dimezzati, forme e lunghezze identiche su tutte le dita, più controllo e più durata.</a:t>
            </a:r>
          </a:p>
          <a:p>
            <a:r>
              <a:t>- Nessun punto di stress scoperto: l'unghia naturale è protetta per intero e il rischio di rottura netta cala molto.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Spesso la cliente dice 'le tip sono finte'. Serve chiarire la differenza in 30 secondi.</a:t>
            </a:r>
          </a:p>
          <a:p/>
          <a:p>
            <a:r>
              <a:t>Dettaglio:</a:t>
            </a:r>
          </a:p>
          <a:p>
            <a:r>
              <a:t>- Tip classiche (anni 2000): estensioni parziali in plastica rigida incollate sul bordo libero, poi serve la struttura sopra.</a:t>
            </a:r>
          </a:p>
          <a:p>
            <a:r>
              <a:t>- Gel Tip moderne: copertura totale in soft gel, applicate con gel.</a:t>
            </a:r>
          </a:p>
          <a:p>
            <a:r>
              <a:t>- Press-on: unghie finte in ABS con colla, pensate per l'uso occasionale, non per il professionista. Mai applicarle con base gel: si formano bolle d'aria, umidità e rischio batteri.</a:t>
            </a:r>
          </a:p>
          <a:p>
            <a:r>
              <a:t>- Dual form: tecnica manuale di ricostruzione con supporto in plastica da rimuovere. Non è una tip.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test della lima si può fare davanti alla cliente o in formazione: è memorabile.</a:t>
            </a:r>
          </a:p>
          <a:p/>
          <a:p>
            <a:r>
              <a:t>Dettaglio:</a:t>
            </a:r>
          </a:p>
          <a:p>
            <a:r>
              <a:t>- La tip in gel è flessibile ma resistente: accompagna l'urto e torna in posizione. La plastica ABS è rigida e cede di colpo.</a:t>
            </a:r>
          </a:p>
          <a:p>
            <a:r>
              <a:t>- Segnali d'allarme: prezzo molto basso (scatole da centinaia di pezzi a pochi euro; indicazione del corso: i marchi seri stanno sopra circa 30 € a scatola), materiale ABS, struttura sbagliata.</a:t>
            </a:r>
          </a:p>
          <a:p>
            <a:r>
              <a:t>- Test pratico: limare un bordo di una tip. Odore di plastica bruciata = plastica. Il tipico odore di gel limato = gel.</a:t>
            </a:r>
          </a:p>
          <a:p>
            <a:r>
              <a:t>- Non fidarsi del nome dell'azienda: un marchio può cambiare qualità nel tempo. Si impara a valutare la tip, non il brand.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chiave: mostrare foto di una tip corretta e una errata affiancate.</a:t>
            </a:r>
          </a:p>
          <a:p/>
          <a:p>
            <a:r>
              <a:t>Dettaglio:</a:t>
            </a:r>
          </a:p>
          <a:p>
            <a:r>
              <a:t>- Spessore distribuito, non uniforme: sottile al giro cuticola (si fonde con la cuticola), più spesso al bordo libero (regge gli urti).</a:t>
            </a:r>
          </a:p>
          <a:p>
            <a:r>
              <a:t>- Giro cuticola tondo, a mezzaluna, senza angoli: l'unghia naturale non è squadrata.</a:t>
            </a:r>
          </a:p>
          <a:p>
            <a:r>
              <a:t>- Profilo laterale morbido e armonioso, che copre bene i laterali e il punto di stress.</a:t>
            </a:r>
          </a:p>
          <a:p>
            <a:r>
              <a:t>- Da evitare: apice troppo alto, discesa dritta 'a becco di pappagallo', angoli squadrati.</a:t>
            </a:r>
          </a:p>
          <a:p>
            <a:r>
              <a:t>- Acquistare solo da schede che mostrano la tip da più angolazioni, anche di profilo.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Messaggio: la trasparente ci dà controllo visivo e velocità.</a:t>
            </a:r>
          </a:p>
          <a:p/>
          <a:p>
            <a:r>
              <a:t>Dettaglio:</a:t>
            </a:r>
          </a:p>
          <a:p>
            <a:r>
              <a:t>- Trasparente (la preferita): si vede il gel camminare sotto la tip, quindi si capisce la quantità e dove arriva; la polimerizzazione lampo è rapida (circa 7-8 secondi) perché la luce penetra.</a:t>
            </a:r>
          </a:p>
          <a:p>
            <a:r>
              <a:t>- Colorata: non si vede il gel, la luce penetra con più fatica (tempo più lungo, rischio che la cliente si muova), meno flessibile al giro cuticola. Meglio una passata di colore sopra.</a:t>
            </a:r>
          </a:p>
          <a:p>
            <a:r>
              <a:t>- Semi-opaca di fabbrica: di solito opacizzata solo otticamente, resta liscia dentro e già più sottile. Va riopacizzata, quindi si scarta.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Consiglio operativo: tenere un campionario con tutte le misure per forma.</a:t>
            </a:r>
          </a:p>
          <a:p/>
          <a:p>
            <a:r>
              <a:t>Dettaglio:</a:t>
            </a:r>
          </a:p>
          <a:p>
            <a:r>
              <a:t>- Lunghezze: XS, S, M, L, XL (esistono anche XXL).</a:t>
            </a:r>
          </a:p>
          <a:p>
            <a:r>
              <a:t>- In Italia spesso si trova una sola lunghezza: scegliere fornitori con gamma completa evita di accorciare o raddoppiare le tip.</a:t>
            </a:r>
          </a:p>
          <a:p>
            <a:r>
              <a:t>- Le misure ideali sono 14 (0–9 con le mezze misure): ogni numero è una larghezza precisa.</a:t>
            </a:r>
          </a:p>
          <a:p>
            <a:r>
              <a:t>- Orientamento: 0–1 pollice (a volte 00 per pollici larghi), 2–6,5 le tre dita centrali, 7–9 mignolo.</a:t>
            </a:r>
          </a:p>
          <a:p>
            <a:r>
              <a:t>- La numerazione cambia anche tra forme dello stesso brand, e tra mano destra e sinistra può variare di una misura.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la cliente che vuole le unghie lunghe: mostrarle foto prima/dopo di rotture. La lunghezza si fa con la tip, non con l'unghia naturale.</a:t>
            </a:r>
          </a:p>
          <a:p/>
          <a:p>
            <a:r>
              <a:t>Dettaglio:</a:t>
            </a:r>
          </a:p>
          <a:p>
            <a:r>
              <a:t>- Unghia naturale corta, pari al polpastrello, e stondata (mai angoli).</a:t>
            </a:r>
          </a:p>
          <a:p>
            <a:r>
              <a:t>- Se resta lunga: la tip la fa sporgere, si tende ad appoggiarla inclinata 'a pappagallo', si tira dal giro cuticola e si formano tasche d'aria.</a:t>
            </a:r>
          </a:p>
          <a:p>
            <a:r>
              <a:t>- Con l'unghia corta, se la tip si rompe cede solo il bordo libero della tip: l'unghia sotto resta protetta.</a:t>
            </a:r>
          </a:p>
          <a:p>
            <a:r>
              <a:t>- Rimuovere tutto il vecchio prodotto (semipermanente, gel, acrilico): sotto la tip serve una superficie liscia. Solo se si rifà un set di tip si può lasciare un velo sottile di base.</a:t>
            </a:r>
          </a:p>
          <a:p>
            <a:r>
              <a:t>- Dry manicure e pulizia cuticole come sempre.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Fare la prova in diretta su un pollice: tip troppo grande, troppo piccola, giusta.</a:t>
            </a:r>
          </a:p>
          <a:p/>
          <a:p>
            <a:r>
              <a:t>Dettaglio:</a:t>
            </a:r>
          </a:p>
          <a:p>
            <a:r>
              <a:t>- Appoggiare la tip al centro e farla scorrere verso il basso, senza forzare sulla pelle.</a:t>
            </a:r>
          </a:p>
          <a:p>
            <a:r>
              <a:t>- Deve combaciare con il punto di crescita e coprire entrambi i laterali, senza spazi e senza invadere la pelle.</a:t>
            </a:r>
          </a:p>
          <a:p>
            <a:r>
              <a:t>- Se una è troppo piccola e l'altra un po' grande, scegliere la più grande: la tip in gel si flette leggermente.</a:t>
            </a:r>
          </a:p>
          <a:p>
            <a:r>
              <a:t>- Una tip troppo piccola non si può allargare. Una troppo grande si può restringere con una passata leggera di lima sui laterali (pochi secondi).</a:t>
            </a:r>
          </a:p>
          <a:p>
            <a:r>
              <a:t>- Se il problema si ripete su tutte le misure, è la forma della tip a essere sbagliata, non la tecnica.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Ascoltare il rumore: cambia tra avanti-indietro e uscita. Appoggiare il mignolo per stabilità.</a:t>
            </a:r>
          </a:p>
          <a:p/>
          <a:p>
            <a:r>
              <a:t>Dettaglio:</a:t>
            </a:r>
          </a:p>
          <a:p>
            <a:r>
              <a:t>- Mandrino con cilindro abrasivo (meglio se già usato; se nuovo, ammorbidirlo su una lima).</a:t>
            </a:r>
          </a:p>
          <a:p>
            <a:r>
              <a:t>- Velocità 15.000–18.000 giri. Sotto i 15.000 la tip ballonzola, troppo alta la assottiglia.</a:t>
            </a:r>
          </a:p>
          <a:p>
            <a:r>
              <a:t>- Opacizzare l'interno fino a dove arriva il letto ungueale: l'interno deve risultare ruvido e poroso.</a:t>
            </a:r>
          </a:p>
          <a:p>
            <a:r>
              <a:t>- Movimento avanti-indietro al centro e sui laterali. Nel giro cuticola, all'inizio, solo in uscita; con l'esperienza anche avanti-indietro con micro movimenti.</a:t>
            </a:r>
          </a:p>
          <a:p>
            <a:r>
              <a:t>- Fresa sempre parallela alla tip, mai di punta (rovina i laterali o buca).</a:t>
            </a:r>
          </a:p>
          <a:p>
            <a:r>
              <a:t>- Mignolo: punta conica in ceramica, circa 15.000 giri.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la cliente: la torcia la tiene lei, noi teniamo il dito e applichiamo la tip.</a:t>
            </a:r>
          </a:p>
          <a:p/>
          <a:p>
            <a:r>
              <a:t>Dettaglio:</a:t>
            </a:r>
          </a:p>
          <a:p>
            <a:r>
              <a:t>- 1. Dry manicure e unghia corta e stondata.</a:t>
            </a:r>
          </a:p>
          <a:p>
            <a:r>
              <a:t>- 2. Opacizzare l'interno della tip e spolverare tip e unghia.</a:t>
            </a:r>
          </a:p>
          <a:p>
            <a:r>
              <a:t>- 3. Deidratante, poi primer acid-free (anche dentro la tip).</a:t>
            </a:r>
          </a:p>
          <a:p>
            <a:r>
              <a:t>- 4. Base/extension gel sulla tip: una passata sottile 'a smalto' solo dove è opacizzata + una goccia scaricata nella tip.</a:t>
            </a:r>
          </a:p>
          <a:p>
            <a:r>
              <a:t>- 5. Appoggiare già con l'inclinazione giusta (niente colpo a vuoto), premere al centro e scendere lentamente, il gel cammina fino a fine letto ungueale.</a:t>
            </a:r>
          </a:p>
          <a:p>
            <a:r>
              <a:t>- 6. Polimerizzazione lampo 7-8 secondi per bloccare, poi 60 secondi in lampada.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Mostrare il video 'inclinazione errata vs corretta' come confronto.</a:t>
            </a:r>
          </a:p>
          <a:p/>
          <a:p>
            <a:r>
              <a:t>Dettaglio:</a:t>
            </a:r>
          </a:p>
          <a:p>
            <a:r>
              <a:t>- Movimento troppo veloce o troppo lento: il gel esce dai lati e sporca il giro cuticola.</a:t>
            </a:r>
          </a:p>
          <a:p>
            <a:r>
              <a:t>- Colpo a vuoto o tip troppo vicina alla cuticola: scalino, bolle, pelle sporca.</a:t>
            </a:r>
          </a:p>
          <a:p>
            <a:r>
              <a:t>- Il gel che 'cammina' indica la quantità giusta: né troppo né poco.</a:t>
            </a:r>
          </a:p>
          <a:p>
            <a:r>
              <a:t>- Gel sbrodolato = rimozione lunga. Meglio prevenire con l'inclinazione corretta.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scalino rimosso evita che i capelli si impiglino durante la crescita.</a:t>
            </a:r>
          </a:p>
          <a:p/>
          <a:p>
            <a:r>
              <a:t>Dettaglio:</a:t>
            </a:r>
          </a:p>
          <a:p>
            <a:r>
              <a:t>- Rimuovere il piccolo scalino al giro cuticola con punta dedicata, circa 18.000 giri: partire dal centro, mano leggera, stessa inclinazione del mandrino.</a:t>
            </a:r>
          </a:p>
          <a:p>
            <a:r>
              <a:t>- Con la lima a grana fine solo una passata nel giro cuticola e intorno per togliere schegge.</a:t>
            </a:r>
          </a:p>
          <a:p>
            <a:r>
              <a:t>- Pulire la punta sul buffer (i fori servono a liberare il gel) e riportare a velocità alta.</a:t>
            </a:r>
          </a:p>
          <a:p>
            <a:r>
              <a:t>- Deidratante prima del colore. La tip è già lucida: non serve altro prima del colore.</a:t>
            </a:r>
          </a:p>
          <a:p>
            <a:r>
              <a:t>- Colore: non partire dalla cuticola, un po' alla volta. Per i decori vicino alla cuticola, trattenere il respiro aiuta la precisione.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vantaggio commerciale: nessun refill complicato, appuntamenti più rapidi e più clienti al giorno.</a:t>
            </a:r>
          </a:p>
          <a:p/>
          <a:p>
            <a:r>
              <a:t>Dettaglio:</a:t>
            </a:r>
          </a:p>
          <a:p>
            <a:r>
              <a:t>- Non esiste il refill: dopo 3–6 settimane si rimuove la tip e se ne applica una nuova.</a:t>
            </a:r>
          </a:p>
          <a:p>
            <a:r>
              <a:t>- Tagliare la tip, poi rimuovere lucido e colore con la fresa: il remover non scioglie colore e top.</a:t>
            </a:r>
          </a:p>
          <a:p>
            <a:r>
              <a:t>- Ammollo in remover per semipermanente per circa 5 minuti (oppure cotone + alluminio).</a:t>
            </a:r>
          </a:p>
          <a:p>
            <a:r>
              <a:t>- Spingere via il gel con il pusher, una passata leggera di fresa per i residui, poi preparazione normale e nuova tip.</a:t>
            </a:r>
          </a:p>
          <a:p>
            <a:r>
              <a:t>- Mentre una mano è in ammollo si lavora sull'altra: zero tempi morti.</a:t>
            </a:r>
          </a:p>
          <a:p>
            <a:r>
              <a:t>- Vantaggio: la cliente può cambiare forma e lunghezza ad ogni appuntamento senza ricostruire nulla.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 usare come script con la cliente, nel tono Lidia Nails.</a:t>
            </a:r>
          </a:p>
          <a:p/>
          <a:p>
            <a:r>
              <a:t>Dettaglio:</a:t>
            </a:r>
          </a:p>
          <a:p>
            <a:r>
              <a:t>- Unghia naturale corta = unghia protetta: se prendi un colpo, si rompe solo la tip.</a:t>
            </a:r>
          </a:p>
          <a:p>
            <a:r>
              <a:t>- Risultato più sottile e naturale, senza bordi spessi.</a:t>
            </a:r>
          </a:p>
          <a:p>
            <a:r>
              <a:t>- Appuntamento ogni 3–6 settimane per rimozione e nuova applicazione.</a:t>
            </a:r>
          </a:p>
          <a:p>
            <a:r>
              <a:t>- Mai staccare la tip da sola.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di sicurezza: usare il 'semaforo'. Verde = si lavora, giallo = con cautela, rosso = medico.</a:t>
            </a:r>
          </a:p>
          <a:p/>
          <a:p>
            <a:r>
              <a:t>Dettaglio:</a:t>
            </a:r>
          </a:p>
          <a:p>
            <a:r>
              <a:t>- Regola d'oro: noi curiamo l'estetica, non la salute. Mai prescrivere farmaci o antimicotici. Se qualcosa non ci è chiaro o non è normale: cliente dal medico o dermatologo.</a:t>
            </a:r>
          </a:p>
          <a:p>
            <a:r>
              <a:t>- Criterio pratico: un trauma colpisce 1-3 unghie. Se l'anomalia è su molte o tutte le dita, ragionare come patologia e inviare dal medico.</a:t>
            </a:r>
          </a:p>
          <a:p>
            <a:r>
              <a:t>- Onicolisi (distacco dell'unghia dal letto ungueale): da trauma parte dal bordo libero o dai laterali. Con sangue o dolore: accorciare, disinfettare, rimandare. Si lavora solo sulla parte ancora salda; se il distacco è circa metà unghia o più, non si ricostruisce.</a:t>
            </a:r>
          </a:p>
          <a:p>
            <a:r>
              <a:t>- Distacco lieve (circa un terzo): tagliare la parte sollevata lasciando un bordo di sicurezza, applicare una copertura leggera. Evitare che il prodotto tocchi la pelle. Con la gel tip il gel va solo sulla zona salda; controllo dopo circa 2 settimane.</a:t>
            </a:r>
          </a:p>
          <a:p>
            <a:r>
              <a:t>- Leuconichia (macchie bianche): di solito traumi o limature troppo aggressive. Su una o poche unghie si può lavorare con mano leggera; su tutte e dieci, medico.</a:t>
            </a:r>
          </a:p>
          <a:p>
            <a:r>
              <a:t>- Emorragia a scheggia (linee sottili rosso scuro o bluastre sotto l'unghia): spesso un urto. Si può lavorare senza limare a fondo. Se è una linea lunga fino alla matrice o su più dita, medico.</a:t>
            </a:r>
          </a:p>
          <a:p>
            <a:r>
              <a:t>- Onicomicosi (fungo): macchia bianca o gialla che parte dal bordo libero, unghia spessa o fragile. Non si lavora. Cliente dal medico, strumenti disinfettati o buttati (lime), mascherina, mai usare lo stesso strumento sulle altre dita.</a:t>
            </a:r>
          </a:p>
          <a:p>
            <a:r>
              <a:t>- Pseudomonas (verde): nasce con umidità tra gel e unghia (sollevamenti, gel non polimerizzato, cuticole non sigillate). Giallino = inizio. Smontare, cambiare/sterilizzare gli strumenti, lasciare l'unghia scoperta circa 15 giorni (minimo una settimana). Verde scuro avanzato: farmacista o medico.</a:t>
            </a:r>
          </a:p>
          <a:p>
            <a:r>
              <a:t>- Paronichia (infiammazione attorno all'unghia, rossore, calore, dolore): non lavorare, medico. Cause: errori tecnici (cuticole forate), onicofagia, tagli. Evitare di spingere strumenti sotto la cuticola.</a:t>
            </a:r>
          </a:p>
          <a:p>
            <a:r>
              <a:t>- Allergie (rossore, prurito, bollicine, pelle che si screpola): quasi sempre contatto del prodotto con la pelle o gel non polimerizzato. Possono comparire anche dopo mesi. Rimuovere tutto, inviare al medico; si riprende solo con certificato. Valutare prodotti senza ingredienti sensibilizzanti noti.</a:t>
            </a:r>
          </a:p>
          <a:p>
            <a:r>
              <a:t>- Prevenzione: prodotto mai sulla pelle (anche primer e colore), guanti e mani pulite, lampada e polimerizzazione corrette. Meglio perdere un appuntamento che la fiducia della cliente.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Elenco generico: i marchi li scegliamo noi, non quelli citati nel corso.</a:t>
            </a:r>
          </a:p>
          <a:p/>
          <a:p>
            <a:r>
              <a:t>Dettaglio:</a:t>
            </a:r>
          </a:p>
          <a:p>
            <a:r>
              <a:t>- Gel Tip trasparenti in gamma completa di misure e forme.</a:t>
            </a:r>
          </a:p>
          <a:p>
            <a:r>
              <a:t>- Base/extension gel (anche rubber), deidratante, primer acid-free.</a:t>
            </a:r>
          </a:p>
          <a:p>
            <a:r>
              <a:t>- Mandrino con cilindro abrasivo, punta conica in ceramica, punta per rimuovere lo scalino, buffer.</a:t>
            </a:r>
          </a:p>
          <a:p>
            <a:r>
              <a:t>- Lampada/torcia per il blocco rapido.</a:t>
            </a:r>
          </a:p>
          <a:p>
            <a:r>
              <a:t>- Rimozione: remover per semipermanente, vaschetta o ciotola, pusher, eventuale alluminio e pad.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EC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058400" cy="548640"/>
          </a:xfrm>
          <a:prstGeom prst="rect">
            <a:avLst/>
          </a:prstGeom>
          <a:noFill/>
        </p:spPr>
        <p:txBody>
          <a:bodyPr wrap="square">
            <a:spAutoFit/>
          </a:bodyPr>
          <a:lstStyle/>
          <a:p>
            <a:r>
              <a:rPr sz="2000" b="1">
                <a:solidFill>
                  <a:srgbClr val="B76E79"/>
                </a:solidFill>
                <a:latin typeface="Calibri"/>
              </a:rPr>
              <a:t>LIDIA NAILS</a:t>
            </a:r>
          </a:p>
        </p:txBody>
      </p:sp>
      <p:sp>
        <p:nvSpPr>
          <p:cNvPr id="4" name="TextBox 3"/>
          <p:cNvSpPr txBox="1"/>
          <p:nvPr/>
        </p:nvSpPr>
        <p:spPr>
          <a:xfrm>
            <a:off x="822960" y="2651760"/>
            <a:ext cx="10515600" cy="1371600"/>
          </a:xfrm>
          <a:prstGeom prst="rect">
            <a:avLst/>
          </a:prstGeom>
          <a:noFill/>
        </p:spPr>
        <p:txBody>
          <a:bodyPr wrap="square">
            <a:spAutoFit/>
          </a:bodyPr>
          <a:lstStyle/>
          <a:p>
            <a:r>
              <a:rPr sz="4800" b="1">
                <a:solidFill>
                  <a:srgbClr val="2B2B2B"/>
                </a:solidFill>
                <a:latin typeface="Calibri"/>
              </a:rPr>
              <a:t>Gel Tip: guida all'applicazione</a:t>
            </a:r>
          </a:p>
        </p:txBody>
      </p:sp>
      <p:sp>
        <p:nvSpPr>
          <p:cNvPr id="5" name="TextBox 4"/>
          <p:cNvSpPr txBox="1"/>
          <p:nvPr/>
        </p:nvSpPr>
        <p:spPr>
          <a:xfrm>
            <a:off x="822960" y="4206240"/>
            <a:ext cx="10058400" cy="548640"/>
          </a:xfrm>
          <a:prstGeom prst="rect">
            <a:avLst/>
          </a:prstGeom>
          <a:noFill/>
        </p:spPr>
        <p:txBody>
          <a:bodyPr wrap="square">
            <a:spAutoFit/>
          </a:bodyPr>
          <a:lstStyle/>
          <a:p>
            <a:r>
              <a:rPr sz="2200" b="0">
                <a:solidFill>
                  <a:srgbClr val="777777"/>
                </a:solidFill>
                <a:latin typeface="Calibri"/>
              </a:rPr>
              <a:t>Metodo passo passo – uso interno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1. Cosa sono le Gel Tip</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Estensioni preformate in soft gel</a:t>
            </a:r>
          </a:p>
          <a:p>
            <a:pPr>
              <a:spcAft>
                <a:spcPts val="1800"/>
              </a:spcAft>
            </a:pPr>
            <a:r>
              <a:rPr sz="2800">
                <a:solidFill>
                  <a:srgbClr val="2B2B2B"/>
                </a:solidFill>
                <a:latin typeface="Calibri"/>
              </a:rPr>
              <a:t>•  Coprono tutta l'unghia: cuticola → bordo libero + laterali</a:t>
            </a:r>
          </a:p>
          <a:p>
            <a:pPr>
              <a:spcAft>
                <a:spcPts val="1800"/>
              </a:spcAft>
            </a:pPr>
            <a:r>
              <a:rPr sz="2800">
                <a:solidFill>
                  <a:srgbClr val="2B2B2B"/>
                </a:solidFill>
                <a:latin typeface="Calibri"/>
              </a:rPr>
              <a:t>•  Si applicano con il gel, non con la colla</a:t>
            </a:r>
          </a:p>
          <a:p>
            <a:pPr>
              <a:spcAft>
                <a:spcPts val="1800"/>
              </a:spcAft>
            </a:pPr>
            <a:r>
              <a:rPr sz="2800">
                <a:solidFill>
                  <a:srgbClr val="2B2B2B"/>
                </a:solidFill>
                <a:latin typeface="Calibri"/>
              </a:rPr>
              <a:t>•  Metà del tempo, forme identiche su ogni dito</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2. Non confondere: tip classiche, press-on, dual form</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Tip classiche: parziali, rigide, incollate</a:t>
            </a:r>
          </a:p>
          <a:p>
            <a:pPr>
              <a:spcAft>
                <a:spcPts val="1800"/>
              </a:spcAft>
            </a:pPr>
            <a:r>
              <a:rPr sz="2800">
                <a:solidFill>
                  <a:srgbClr val="2B2B2B"/>
                </a:solidFill>
                <a:latin typeface="Calibri"/>
              </a:rPr>
              <a:t>•  Gel Tip: copertura totale, applicate con gel</a:t>
            </a:r>
          </a:p>
          <a:p>
            <a:pPr>
              <a:spcAft>
                <a:spcPts val="1800"/>
              </a:spcAft>
            </a:pPr>
            <a:r>
              <a:rPr sz="2800">
                <a:solidFill>
                  <a:srgbClr val="2B2B2B"/>
                </a:solidFill>
                <a:latin typeface="Calibri"/>
              </a:rPr>
              <a:t>•  Press-on: unghie finte in ABS, uso occasionale</a:t>
            </a:r>
          </a:p>
          <a:p>
            <a:pPr>
              <a:spcAft>
                <a:spcPts val="1800"/>
              </a:spcAft>
            </a:pPr>
            <a:r>
              <a:rPr sz="2800">
                <a:solidFill>
                  <a:srgbClr val="2B2B2B"/>
                </a:solidFill>
                <a:latin typeface="Calibri"/>
              </a:rPr>
              <a:t>•  Dual form: tecnica manuale, non è una tip</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3. Gel vs plastica: come riconoscere la qualità</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Gel: flessibile ma resistente. ABS: rigida e cede</a:t>
            </a:r>
          </a:p>
          <a:p>
            <a:pPr>
              <a:spcAft>
                <a:spcPts val="1800"/>
              </a:spcAft>
            </a:pPr>
            <a:r>
              <a:rPr sz="2800">
                <a:solidFill>
                  <a:srgbClr val="2B2B2B"/>
                </a:solidFill>
                <a:latin typeface="Calibri"/>
              </a:rPr>
              <a:t>•  Allarmi: prezzo troppo basso, ABS, struttura sbagliata</a:t>
            </a:r>
          </a:p>
          <a:p>
            <a:pPr>
              <a:spcAft>
                <a:spcPts val="1800"/>
              </a:spcAft>
            </a:pPr>
            <a:r>
              <a:rPr sz="2800">
                <a:solidFill>
                  <a:srgbClr val="2B2B2B"/>
                </a:solidFill>
                <a:latin typeface="Calibri"/>
              </a:rPr>
              <a:t>•  Test della lima: odore di plastica bruciata = plastica</a:t>
            </a:r>
          </a:p>
          <a:p>
            <a:pPr>
              <a:spcAft>
                <a:spcPts val="1800"/>
              </a:spcAft>
            </a:pPr>
            <a:r>
              <a:rPr sz="2800">
                <a:solidFill>
                  <a:srgbClr val="2B2B2B"/>
                </a:solidFill>
                <a:latin typeface="Calibri"/>
              </a:rPr>
              <a:t>•  Valutare la tip, non il marchio</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4. Struttura corretta di una tip professionale</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Spessore: sottile alla cuticola, più spesso al bordo libero</a:t>
            </a:r>
          </a:p>
          <a:p>
            <a:pPr>
              <a:spcAft>
                <a:spcPts val="1800"/>
              </a:spcAft>
            </a:pPr>
            <a:r>
              <a:rPr sz="2800">
                <a:solidFill>
                  <a:srgbClr val="2B2B2B"/>
                </a:solidFill>
                <a:latin typeface="Calibri"/>
              </a:rPr>
              <a:t>•  Giro cuticola tondo a mezzaluna, senza angoli</a:t>
            </a:r>
          </a:p>
          <a:p>
            <a:pPr>
              <a:spcAft>
                <a:spcPts val="1800"/>
              </a:spcAft>
            </a:pPr>
            <a:r>
              <a:rPr sz="2800">
                <a:solidFill>
                  <a:srgbClr val="2B2B2B"/>
                </a:solidFill>
                <a:latin typeface="Calibri"/>
              </a:rPr>
              <a:t>•  Profilo laterale morbido, laterali coperti</a:t>
            </a:r>
          </a:p>
          <a:p>
            <a:pPr>
              <a:spcAft>
                <a:spcPts val="1800"/>
              </a:spcAft>
            </a:pPr>
            <a:r>
              <a:rPr sz="2800">
                <a:solidFill>
                  <a:srgbClr val="2B2B2B"/>
                </a:solidFill>
                <a:latin typeface="Calibri"/>
              </a:rPr>
              <a:t>•  No apice alto, no becco di pappagallo</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5. Quale tip scegliere</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Trasparente: vedi il gel camminare, blocco in 7-8 secondi</a:t>
            </a:r>
          </a:p>
          <a:p>
            <a:pPr>
              <a:spcAft>
                <a:spcPts val="1800"/>
              </a:spcAft>
            </a:pPr>
            <a:r>
              <a:rPr sz="2800">
                <a:solidFill>
                  <a:srgbClr val="2B2B2B"/>
                </a:solidFill>
                <a:latin typeface="Calibri"/>
              </a:rPr>
              <a:t>•  Colorata: meno controllo, luce più lenta, meno flessibile</a:t>
            </a:r>
          </a:p>
          <a:p>
            <a:pPr>
              <a:spcAft>
                <a:spcPts val="1800"/>
              </a:spcAft>
            </a:pPr>
            <a:r>
              <a:rPr sz="2800">
                <a:solidFill>
                  <a:srgbClr val="2B2B2B"/>
                </a:solidFill>
                <a:latin typeface="Calibri"/>
              </a:rPr>
              <a:t>•  Semi-opaca: liscia dentro, già sottile → scartarla</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6. Lunghezze, forme e misure</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Lunghezze XS – XL</a:t>
            </a:r>
          </a:p>
          <a:p>
            <a:pPr>
              <a:spcAft>
                <a:spcPts val="1800"/>
              </a:spcAft>
            </a:pPr>
            <a:r>
              <a:rPr sz="2800">
                <a:solidFill>
                  <a:srgbClr val="2B2B2B"/>
                </a:solidFill>
                <a:latin typeface="Calibri"/>
              </a:rPr>
              <a:t>•  14 misure (0–9 con le mezze)</a:t>
            </a:r>
          </a:p>
          <a:p>
            <a:pPr>
              <a:spcAft>
                <a:spcPts val="1800"/>
              </a:spcAft>
            </a:pPr>
            <a:r>
              <a:rPr sz="2800">
                <a:solidFill>
                  <a:srgbClr val="2B2B2B"/>
                </a:solidFill>
                <a:latin typeface="Calibri"/>
              </a:rPr>
              <a:t>•  0–1 pollice · 2–6,5 dita centrali · 7–9 mignolo</a:t>
            </a:r>
          </a:p>
          <a:p>
            <a:pPr>
              <a:spcAft>
                <a:spcPts val="1800"/>
              </a:spcAft>
            </a:pPr>
            <a:r>
              <a:rPr sz="2800">
                <a:solidFill>
                  <a:srgbClr val="2B2B2B"/>
                </a:solidFill>
                <a:latin typeface="Calibri"/>
              </a:rPr>
              <a:t>•  La numerazione cambia per forma e per mano</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7. Preparare l'unghia naturale</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Unghia corta, pari al polpastrello, stondata</a:t>
            </a:r>
          </a:p>
          <a:p>
            <a:pPr>
              <a:spcAft>
                <a:spcPts val="1800"/>
              </a:spcAft>
            </a:pPr>
            <a:r>
              <a:rPr sz="2800">
                <a:solidFill>
                  <a:srgbClr val="2B2B2B"/>
                </a:solidFill>
                <a:latin typeface="Calibri"/>
              </a:rPr>
              <a:t>•  Lunga = tasche d'aria + effetto pappagallo</a:t>
            </a:r>
          </a:p>
          <a:p>
            <a:pPr>
              <a:spcAft>
                <a:spcPts val="1800"/>
              </a:spcAft>
            </a:pPr>
            <a:r>
              <a:rPr sz="2800">
                <a:solidFill>
                  <a:srgbClr val="2B2B2B"/>
                </a:solidFill>
                <a:latin typeface="Calibri"/>
              </a:rPr>
              <a:t>•  Se si rompe, cede solo la tip</a:t>
            </a:r>
          </a:p>
          <a:p>
            <a:pPr>
              <a:spcAft>
                <a:spcPts val="1800"/>
              </a:spcAft>
            </a:pPr>
            <a:r>
              <a:rPr sz="2800">
                <a:solidFill>
                  <a:srgbClr val="2B2B2B"/>
                </a:solidFill>
                <a:latin typeface="Calibri"/>
              </a:rPr>
              <a:t>•  Via TUTTO il vecchio prodotto</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8. Scegliere la misura sull'unghia</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Appoggia al centro e scorri</a:t>
            </a:r>
          </a:p>
          <a:p>
            <a:pPr>
              <a:spcAft>
                <a:spcPts val="1800"/>
              </a:spcAft>
            </a:pPr>
            <a:r>
              <a:rPr sz="2800">
                <a:solidFill>
                  <a:srgbClr val="2B2B2B"/>
                </a:solidFill>
                <a:latin typeface="Calibri"/>
              </a:rPr>
              <a:t>•  Deve combaciare col punto di crescita</a:t>
            </a:r>
          </a:p>
          <a:p>
            <a:pPr>
              <a:spcAft>
                <a:spcPts val="1800"/>
              </a:spcAft>
            </a:pPr>
            <a:r>
              <a:rPr sz="2800">
                <a:solidFill>
                  <a:srgbClr val="2B2B2B"/>
                </a:solidFill>
                <a:latin typeface="Calibri"/>
              </a:rPr>
              <a:t>•  Dubbio? La più grande (si flette)</a:t>
            </a:r>
          </a:p>
          <a:p>
            <a:pPr>
              <a:spcAft>
                <a:spcPts val="1800"/>
              </a:spcAft>
            </a:pPr>
            <a:r>
              <a:rPr sz="2800">
                <a:solidFill>
                  <a:srgbClr val="2B2B2B"/>
                </a:solidFill>
                <a:latin typeface="Calibri"/>
              </a:rPr>
              <a:t>•  Troppo grande: lima i laterali. Troppo piccola: non si allarga</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9. Preparare la tip (interno)</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15.000–18.000 giri, fresa parallela</a:t>
            </a:r>
          </a:p>
          <a:p>
            <a:pPr>
              <a:spcAft>
                <a:spcPts val="1800"/>
              </a:spcAft>
            </a:pPr>
            <a:r>
              <a:rPr sz="2800">
                <a:solidFill>
                  <a:srgbClr val="2B2B2B"/>
                </a:solidFill>
                <a:latin typeface="Calibri"/>
              </a:rPr>
              <a:t>•  Opacizza l'interno fino al letto ungueale</a:t>
            </a:r>
          </a:p>
          <a:p>
            <a:pPr>
              <a:spcAft>
                <a:spcPts val="1800"/>
              </a:spcAft>
            </a:pPr>
            <a:r>
              <a:rPr sz="2800">
                <a:solidFill>
                  <a:srgbClr val="2B2B2B"/>
                </a:solidFill>
                <a:latin typeface="Calibri"/>
              </a:rPr>
              <a:t>•  Giro cuticola: solo in uscita (all'inizio)</a:t>
            </a:r>
          </a:p>
          <a:p>
            <a:pPr>
              <a:spcAft>
                <a:spcPts val="1800"/>
              </a:spcAft>
            </a:pPr>
            <a:r>
              <a:rPr sz="2800">
                <a:solidFill>
                  <a:srgbClr val="2B2B2B"/>
                </a:solidFill>
                <a:latin typeface="Calibri"/>
              </a:rPr>
              <a:t>•  Mignolo: punta conica in ceramica</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10. Applicazione passo passo</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Dry manicure → opacizza → spolvera</a:t>
            </a:r>
          </a:p>
          <a:p>
            <a:pPr>
              <a:spcAft>
                <a:spcPts val="1800"/>
              </a:spcAft>
            </a:pPr>
            <a:r>
              <a:rPr sz="2800">
                <a:solidFill>
                  <a:srgbClr val="2B2B2B"/>
                </a:solidFill>
                <a:latin typeface="Calibri"/>
              </a:rPr>
              <a:t>•  Deidratante + primer acid-free</a:t>
            </a:r>
          </a:p>
          <a:p>
            <a:pPr>
              <a:spcAft>
                <a:spcPts val="1800"/>
              </a:spcAft>
            </a:pPr>
            <a:r>
              <a:rPr sz="2800">
                <a:solidFill>
                  <a:srgbClr val="2B2B2B"/>
                </a:solidFill>
                <a:latin typeface="Calibri"/>
              </a:rPr>
              <a:t>•  Base gel sottile + goccia nella tip</a:t>
            </a:r>
          </a:p>
          <a:p>
            <a:pPr>
              <a:spcAft>
                <a:spcPts val="1800"/>
              </a:spcAft>
            </a:pPr>
            <a:r>
              <a:rPr sz="2800">
                <a:solidFill>
                  <a:srgbClr val="2B2B2B"/>
                </a:solidFill>
                <a:latin typeface="Calibri"/>
              </a:rPr>
              <a:t>•  Inclina, premi al centro, scendi lenta</a:t>
            </a:r>
          </a:p>
          <a:p>
            <a:pPr>
              <a:spcAft>
                <a:spcPts val="1800"/>
              </a:spcAft>
            </a:pPr>
            <a:r>
              <a:rPr sz="2800">
                <a:solidFill>
                  <a:srgbClr val="2B2B2B"/>
                </a:solidFill>
                <a:latin typeface="Calibri"/>
              </a:rPr>
              <a:t>•  Lampo 7-8 s, poi 60 s in lampada</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11. Errori di inclinazione e quantità</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Troppo veloce o troppo lento: gel sui lati</a:t>
            </a:r>
          </a:p>
          <a:p>
            <a:pPr>
              <a:spcAft>
                <a:spcPts val="1800"/>
              </a:spcAft>
            </a:pPr>
            <a:r>
              <a:rPr sz="2800">
                <a:solidFill>
                  <a:srgbClr val="2B2B2B"/>
                </a:solidFill>
                <a:latin typeface="Calibri"/>
              </a:rPr>
              <a:t>•  Niente colpo a vuoto, non vicino alla cuticola</a:t>
            </a:r>
          </a:p>
          <a:p>
            <a:pPr>
              <a:spcAft>
                <a:spcPts val="1800"/>
              </a:spcAft>
            </a:pPr>
            <a:r>
              <a:rPr sz="2800">
                <a:solidFill>
                  <a:srgbClr val="2B2B2B"/>
                </a:solidFill>
                <a:latin typeface="Calibri"/>
              </a:rPr>
              <a:t>•  Il gel che cammina = quantità giusta</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12. Rifinitura e colore</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Scalino: punta dedicata 18.000 giri, mano leggera</a:t>
            </a:r>
          </a:p>
          <a:p>
            <a:pPr>
              <a:spcAft>
                <a:spcPts val="1800"/>
              </a:spcAft>
            </a:pPr>
            <a:r>
              <a:rPr sz="2800">
                <a:solidFill>
                  <a:srgbClr val="2B2B2B"/>
                </a:solidFill>
                <a:latin typeface="Calibri"/>
              </a:rPr>
              <a:t>•  Lima fine solo nel giro cuticola</a:t>
            </a:r>
          </a:p>
          <a:p>
            <a:pPr>
              <a:spcAft>
                <a:spcPts val="1800"/>
              </a:spcAft>
            </a:pPr>
            <a:r>
              <a:rPr sz="2800">
                <a:solidFill>
                  <a:srgbClr val="2B2B2B"/>
                </a:solidFill>
                <a:latin typeface="Calibri"/>
              </a:rPr>
              <a:t>•  Deidratante prima del colore</a:t>
            </a:r>
          </a:p>
          <a:p>
            <a:pPr>
              <a:spcAft>
                <a:spcPts val="1800"/>
              </a:spcAft>
            </a:pPr>
            <a:r>
              <a:rPr sz="2800">
                <a:solidFill>
                  <a:srgbClr val="2B2B2B"/>
                </a:solidFill>
                <a:latin typeface="Calibri"/>
              </a:rPr>
              <a:t>•  Colore: mai partire dalla cuticola</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13. Rimozione e rifacimento</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Nessun refill: si rimuove e si rifà (3–6 settimane)</a:t>
            </a:r>
          </a:p>
          <a:p>
            <a:pPr>
              <a:spcAft>
                <a:spcPts val="1800"/>
              </a:spcAft>
            </a:pPr>
            <a:r>
              <a:rPr sz="2800">
                <a:solidFill>
                  <a:srgbClr val="2B2B2B"/>
                </a:solidFill>
                <a:latin typeface="Calibri"/>
              </a:rPr>
              <a:t>•  Taglia, togli colore con la fresa, ammollo 5 min</a:t>
            </a:r>
          </a:p>
          <a:p>
            <a:pPr>
              <a:spcAft>
                <a:spcPts val="1800"/>
              </a:spcAft>
            </a:pPr>
            <a:r>
              <a:rPr sz="2800">
                <a:solidFill>
                  <a:srgbClr val="2B2B2B"/>
                </a:solidFill>
                <a:latin typeface="Calibri"/>
              </a:rPr>
              <a:t>•  Pusher + passata di fresa, poi nuova tip</a:t>
            </a:r>
          </a:p>
          <a:p>
            <a:pPr>
              <a:spcAft>
                <a:spcPts val="1800"/>
              </a:spcAft>
            </a:pPr>
            <a:r>
              <a:rPr sz="2800">
                <a:solidFill>
                  <a:srgbClr val="2B2B2B"/>
                </a:solidFill>
                <a:latin typeface="Calibri"/>
              </a:rPr>
              <a:t>•  Una mano in ammollo, lavori sull'altra</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14. Messaggi chiave per la cliente</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Unghia naturale corta = protetta</a:t>
            </a:r>
          </a:p>
          <a:p>
            <a:pPr>
              <a:spcAft>
                <a:spcPts val="1800"/>
              </a:spcAft>
            </a:pPr>
            <a:r>
              <a:rPr sz="2800">
                <a:solidFill>
                  <a:srgbClr val="2B2B2B"/>
                </a:solidFill>
                <a:latin typeface="Calibri"/>
              </a:rPr>
              <a:t>•  Se prendi un colpo si rompe solo la tip</a:t>
            </a:r>
          </a:p>
          <a:p>
            <a:pPr>
              <a:spcAft>
                <a:spcPts val="1800"/>
              </a:spcAft>
            </a:pPr>
            <a:r>
              <a:rPr sz="2800">
                <a:solidFill>
                  <a:srgbClr val="2B2B2B"/>
                </a:solidFill>
                <a:latin typeface="Calibri"/>
              </a:rPr>
              <a:t>•  Risultato sottile e naturale</a:t>
            </a:r>
          </a:p>
          <a:p>
            <a:pPr>
              <a:spcAft>
                <a:spcPts val="1800"/>
              </a:spcAft>
            </a:pPr>
            <a:r>
              <a:rPr sz="2800">
                <a:solidFill>
                  <a:srgbClr val="2B2B2B"/>
                </a:solidFill>
                <a:latin typeface="Calibri"/>
              </a:rPr>
              <a:t>•  Mai staccarla da sola</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15. Anomalie: quando agire e quando inviare al medico</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Noi curiamo l'estetica, non la salute</a:t>
            </a:r>
          </a:p>
          <a:p>
            <a:pPr>
              <a:spcAft>
                <a:spcPts val="1800"/>
              </a:spcAft>
            </a:pPr>
            <a:r>
              <a:rPr sz="2800">
                <a:solidFill>
                  <a:srgbClr val="2B2B2B"/>
                </a:solidFill>
                <a:latin typeface="Calibri"/>
              </a:rPr>
              <a:t>•  Anomalia su molte dita → medico</a:t>
            </a:r>
          </a:p>
          <a:p>
            <a:pPr>
              <a:spcAft>
                <a:spcPts val="1800"/>
              </a:spcAft>
            </a:pPr>
            <a:r>
              <a:rPr sz="2800">
                <a:solidFill>
                  <a:srgbClr val="2B2B2B"/>
                </a:solidFill>
                <a:latin typeface="Calibri"/>
              </a:rPr>
              <a:t>•  Fungo, pseudomonas grave, paronichia, allergia → si ferma</a:t>
            </a:r>
          </a:p>
          <a:p>
            <a:pPr>
              <a:spcAft>
                <a:spcPts val="1800"/>
              </a:spcAft>
            </a:pPr>
            <a:r>
              <a:rPr sz="2800">
                <a:solidFill>
                  <a:srgbClr val="2B2B2B"/>
                </a:solidFill>
                <a:latin typeface="Calibri"/>
              </a:rPr>
              <a:t>•  Prodotto mai sulla pelle</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B76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48640"/>
            <a:ext cx="10515600" cy="914400"/>
          </a:xfrm>
          <a:prstGeom prst="rect">
            <a:avLst/>
          </a:prstGeom>
          <a:noFill/>
        </p:spPr>
        <p:txBody>
          <a:bodyPr wrap="square">
            <a:spAutoFit/>
          </a:bodyPr>
          <a:lstStyle/>
          <a:p>
            <a:r>
              <a:rPr sz="3600" b="1">
                <a:solidFill>
                  <a:srgbClr val="2B2B2B"/>
                </a:solidFill>
                <a:latin typeface="Calibri"/>
              </a:rPr>
              <a:t>16. Materiali da avere</a:t>
            </a:r>
          </a:p>
        </p:txBody>
      </p:sp>
      <p:sp>
        <p:nvSpPr>
          <p:cNvPr id="5" name="TextBox 4"/>
          <p:cNvSpPr txBox="1"/>
          <p:nvPr/>
        </p:nvSpPr>
        <p:spPr>
          <a:xfrm>
            <a:off x="822960" y="1737360"/>
            <a:ext cx="10515600" cy="4389120"/>
          </a:xfrm>
          <a:prstGeom prst="rect">
            <a:avLst/>
          </a:prstGeom>
          <a:noFill/>
        </p:spPr>
        <p:txBody>
          <a:bodyPr wrap="square">
            <a:spAutoFit/>
          </a:bodyPr>
          <a:lstStyle/>
          <a:p>
            <a:pPr>
              <a:spcAft>
                <a:spcPts val="1800"/>
              </a:spcAft>
            </a:pPr>
            <a:r>
              <a:rPr sz="2400" b="0">
                <a:solidFill>
                  <a:srgbClr val="2B2B2B"/>
                </a:solidFill>
                <a:latin typeface="Calibri"/>
              </a:rPr>
              <a:t/>
            </a:r>
            <a:r>
              <a:rPr sz="2800">
                <a:solidFill>
                  <a:srgbClr val="2B2B2B"/>
                </a:solidFill>
                <a:latin typeface="Calibri"/>
              </a:rPr>
              <a:t>•  Gel tip trasparenti, tutte le misure</a:t>
            </a:r>
          </a:p>
          <a:p>
            <a:pPr>
              <a:spcAft>
                <a:spcPts val="1800"/>
              </a:spcAft>
            </a:pPr>
            <a:r>
              <a:rPr sz="2800">
                <a:solidFill>
                  <a:srgbClr val="2B2B2B"/>
                </a:solidFill>
                <a:latin typeface="Calibri"/>
              </a:rPr>
              <a:t>•  Base/extension gel, deidratante, primer acid-free</a:t>
            </a:r>
          </a:p>
          <a:p>
            <a:pPr>
              <a:spcAft>
                <a:spcPts val="1800"/>
              </a:spcAft>
            </a:pPr>
            <a:r>
              <a:rPr sz="2800">
                <a:solidFill>
                  <a:srgbClr val="2B2B2B"/>
                </a:solidFill>
                <a:latin typeface="Calibri"/>
              </a:rPr>
              <a:t>•  Mandrino, punta ceramica, punta scalino, buffer</a:t>
            </a:r>
          </a:p>
          <a:p>
            <a:pPr>
              <a:spcAft>
                <a:spcPts val="1800"/>
              </a:spcAft>
            </a:pPr>
            <a:r>
              <a:rPr sz="2800">
                <a:solidFill>
                  <a:srgbClr val="2B2B2B"/>
                </a:solidFill>
                <a:latin typeface="Calibri"/>
              </a:rPr>
              <a:t>•  Torcia + lampada</a:t>
            </a:r>
          </a:p>
          <a:p>
            <a:pPr>
              <a:spcAft>
                <a:spcPts val="1800"/>
              </a:spcAft>
            </a:pPr>
            <a:r>
              <a:rPr sz="2800">
                <a:solidFill>
                  <a:srgbClr val="2B2B2B"/>
                </a:solidFill>
                <a:latin typeface="Calibri"/>
              </a:rPr>
              <a:t>•  Remover, vaschetta, pusher</a:t>
            </a:r>
          </a:p>
        </p:txBody>
      </p:sp>
      <p:sp>
        <p:nvSpPr>
          <p:cNvPr id="6" name="TextBox 5"/>
          <p:cNvSpPr txBox="1"/>
          <p:nvPr/>
        </p:nvSpPr>
        <p:spPr>
          <a:xfrm>
            <a:off x="822960" y="6309360"/>
            <a:ext cx="3657600" cy="365760"/>
          </a:xfrm>
          <a:prstGeom prst="rect">
            <a:avLst/>
          </a:prstGeom>
          <a:noFill/>
        </p:spPr>
        <p:txBody>
          <a:bodyPr wrap="square">
            <a:spAutoFit/>
          </a:bodyPr>
          <a:lstStyle/>
          <a:p>
            <a:r>
              <a:rPr sz="1200" b="0">
                <a:solidFill>
                  <a:srgbClr val="B76E79"/>
                </a:solidFill>
                <a:latin typeface="Calibri"/>
              </a:rPr>
              <a:t>Lidia Nails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